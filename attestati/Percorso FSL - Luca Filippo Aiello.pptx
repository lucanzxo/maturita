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Medium" panose="020B0604020202020204" charset="0"/>
      <p:regular r:id="rId19"/>
      <p:bold r:id="rId20"/>
      <p:italic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boldItalic r:id="rId29"/>
    </p:embeddedFont>
    <p:embeddedFont>
      <p:font typeface="Poppins ExtraBold" panose="00000900000000000000" pitchFamily="2" charset="0"/>
      <p:bold r:id="rId30"/>
      <p:boldItalic r:id="rId31"/>
    </p:embeddedFont>
    <p:embeddedFont>
      <p:font typeface="Poppins Medium" panose="00000600000000000000" pitchFamily="2" charset="0"/>
      <p:regular r:id="rId32"/>
      <p:bold r:id="rId33"/>
      <p:italic r:id="rId34"/>
      <p:boldItalic r:id="rId35"/>
    </p:embeddedFont>
    <p:embeddedFont>
      <p:font typeface="Poppins SemiBold" panose="000007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f861a89df_39_10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ef861a89df_39_1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861a89df_39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ef861a89df_39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f861a89df_87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g3ef861a89df_87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7" name="Google Shape;3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52500" y="1714500"/>
            <a:ext cx="51435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PROGETTO FORMATIVO</a:t>
            </a:r>
            <a:endParaRPr sz="1200" b="0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 b="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Percorso </a:t>
            </a:r>
            <a:r>
              <a:rPr lang="en-US" sz="6000" b="0">
                <a:solidFill>
                  <a:srgbClr val="38BDF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FSL</a:t>
            </a:r>
            <a:endParaRPr sz="6000" b="0">
              <a:solidFill>
                <a:srgbClr val="F8FAF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Formazione, Certificazioni e Opportunità per il futuro professionale</a:t>
            </a:r>
            <a:endParaRPr sz="18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0" y="1619250"/>
            <a:ext cx="4381500" cy="3619500"/>
          </a:xfrm>
          <a:prstGeom prst="roundRect">
            <a:avLst>
              <a:gd name="adj" fmla="val 5263"/>
            </a:avLst>
          </a:prstGeom>
          <a:solidFill>
            <a:srgbClr val="13223F"/>
          </a:solidFill>
          <a:ln w="14300" cap="flat" cmpd="sng">
            <a:solidFill>
              <a:srgbClr val="223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858000" y="2000250"/>
            <a:ext cx="57300" cy="28575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143750" y="1619250"/>
            <a:ext cx="38100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Presentato da</a:t>
            </a:r>
            <a:endParaRPr sz="1200" b="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Luca Filippo</a:t>
            </a:r>
            <a:br>
              <a:rPr lang="en-US" sz="2600" b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600" b="1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Aiello</a:t>
            </a:r>
            <a:endParaRPr sz="2600" b="1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Classe 5D</a:t>
            </a:r>
            <a:endParaRPr sz="1600" b="0">
              <a:solidFill>
                <a:srgbClr val="F1F5F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Indirizzo Informatica</a:t>
            </a:r>
            <a:endParaRPr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ITST "Vittorio Emanuele III" – Palermo</a:t>
            </a:r>
            <a:endParaRPr sz="1200" b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4"/>
          <p:cNvGrpSpPr/>
          <p:nvPr/>
        </p:nvGrpSpPr>
        <p:grpSpPr>
          <a:xfrm>
            <a:off x="762000" y="2095500"/>
            <a:ext cx="10668000" cy="3810000"/>
            <a:chOff x="762000" y="2095500"/>
            <a:chExt cx="10668000" cy="3810000"/>
          </a:xfrm>
        </p:grpSpPr>
        <p:sp>
          <p:nvSpPr>
            <p:cNvPr id="94" name="Google Shape;94;p14"/>
            <p:cNvSpPr/>
            <p:nvPr/>
          </p:nvSpPr>
          <p:spPr>
            <a:xfrm>
              <a:off x="762000" y="2095500"/>
              <a:ext cx="3238500" cy="3810000"/>
            </a:xfrm>
            <a:prstGeom prst="roundRect">
              <a:avLst>
                <a:gd name="adj" fmla="val 4705"/>
              </a:avLst>
            </a:prstGeom>
            <a:solidFill>
              <a:srgbClr val="13223F"/>
            </a:solidFill>
            <a:ln w="1905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762000" y="209550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047750" y="2428875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3° Anno</a:t>
              </a:r>
              <a:endParaRPr sz="20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94A3B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A.S. 2023–2024</a:t>
              </a:r>
              <a:endParaRPr sz="1200" b="0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marL="457200" lvl="0" indent="-307975" algn="l" rtl="0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IT Essentials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(Cisco)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1125"/>
                </a:spcBef>
                <a:spcAft>
                  <a:spcPts val="1125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Educazione Finanziaria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(UniCredit)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4476750" y="2095500"/>
              <a:ext cx="3238500" cy="3810000"/>
            </a:xfrm>
            <a:prstGeom prst="roundRect">
              <a:avLst>
                <a:gd name="adj" fmla="val 4705"/>
              </a:avLst>
            </a:prstGeom>
            <a:solidFill>
              <a:srgbClr val="13223F"/>
            </a:solidFill>
            <a:ln w="1905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4476750" y="209550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4762500" y="2428875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4D399"/>
                  </a:solidFill>
                  <a:latin typeface="Poppins"/>
                  <a:ea typeface="Poppins"/>
                  <a:cs typeface="Poppins"/>
                  <a:sym typeface="Poppins"/>
                </a:rPr>
                <a:t>4° Anno</a:t>
              </a:r>
              <a:endParaRPr sz="2000" b="1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94A3B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A.S. 2024–2025</a:t>
              </a:r>
              <a:endParaRPr sz="1200" b="0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marL="457200" lvl="0" indent="-307975" algn="l" rtl="0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Sicurezza sul Lavoro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1125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CCNA: Intro to Networks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(Cisco)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1125"/>
                </a:spcBef>
                <a:spcAft>
                  <a:spcPts val="1125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Educazione Sostenibilità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(UniCredit)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8191500" y="2095500"/>
              <a:ext cx="3238500" cy="3810000"/>
            </a:xfrm>
            <a:prstGeom prst="roundRect">
              <a:avLst>
                <a:gd name="adj" fmla="val 4705"/>
              </a:avLst>
            </a:prstGeom>
            <a:solidFill>
              <a:srgbClr val="13223F"/>
            </a:solidFill>
            <a:ln w="1905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8191500" y="209550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8477250" y="2428875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5° Anno</a:t>
              </a:r>
              <a:endParaRPr sz="20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94A3B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A.S. 2025–2026</a:t>
              </a:r>
              <a:endParaRPr sz="1200" b="0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marL="457200" lvl="0" indent="-307975" algn="l" rtl="0">
                <a:spcBef>
                  <a:spcPts val="1500"/>
                </a:spcBef>
                <a:spcAft>
                  <a:spcPts val="1125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CCNA: Switching, Routing &amp; Wireless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(Cisco)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Il Percorso FSL in </a:t>
            </a: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Sintesi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13335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1714500"/>
            <a:ext cx="4381500" cy="3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Fase del Progetto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6400" b="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3° Anno</a:t>
            </a:r>
            <a:endParaRPr sz="6400" b="0">
              <a:solidFill>
                <a:srgbClr val="F8FAF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A.S. 2023–2024</a:t>
            </a:r>
            <a:endParaRPr sz="2000" b="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3D – Fondamenta digitali e cultura finanziaria</a:t>
            </a:r>
            <a:endParaRPr sz="15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1" name="Google Shape;111;p15"/>
          <p:cNvGrpSpPr/>
          <p:nvPr/>
        </p:nvGrpSpPr>
        <p:grpSpPr>
          <a:xfrm>
            <a:off x="5524500" y="1714500"/>
            <a:ext cx="5905500" cy="3714750"/>
            <a:chOff x="5524500" y="1714500"/>
            <a:chExt cx="5905500" cy="3714750"/>
          </a:xfrm>
        </p:grpSpPr>
        <p:sp>
          <p:nvSpPr>
            <p:cNvPr id="112" name="Google Shape;112;p15"/>
            <p:cNvSpPr/>
            <p:nvPr/>
          </p:nvSpPr>
          <p:spPr>
            <a:xfrm>
              <a:off x="5524500" y="1714500"/>
              <a:ext cx="5905500" cy="1714500"/>
            </a:xfrm>
            <a:prstGeom prst="roundRect">
              <a:avLst>
                <a:gd name="adj" fmla="val 8888"/>
              </a:avLst>
            </a:prstGeom>
            <a:solidFill>
              <a:srgbClr val="13223F"/>
            </a:solidFill>
            <a:ln w="1430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5524500" y="2047875"/>
              <a:ext cx="57300" cy="10479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5810250" y="1714500"/>
              <a:ext cx="5334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Cisco Networking Academy</a:t>
              </a:r>
              <a:endParaRPr sz="105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IT Essentials</a:t>
              </a:r>
              <a:endParaRPr sz="2400" b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Percorso formativo hardware e software • Conseguito nel Maggio 2024 • 70 ore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5524500" y="3714750"/>
              <a:ext cx="5905500" cy="1714500"/>
            </a:xfrm>
            <a:prstGeom prst="roundRect">
              <a:avLst>
                <a:gd name="adj" fmla="val 8888"/>
              </a:avLst>
            </a:prstGeom>
            <a:solidFill>
              <a:srgbClr val="13223F"/>
            </a:solidFill>
            <a:ln w="1430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5524500" y="4048125"/>
              <a:ext cx="57300" cy="10479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5810250" y="3714750"/>
              <a:ext cx="5334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EF4444"/>
                  </a:solidFill>
                  <a:latin typeface="Poppins"/>
                  <a:ea typeface="Poppins"/>
                  <a:cs typeface="Poppins"/>
                  <a:sym typeface="Poppins"/>
                </a:rPr>
                <a:t>Startup Your Life – UniCredit</a:t>
              </a:r>
              <a:endParaRPr sz="1050" b="1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Educazione Finanziaria</a:t>
              </a:r>
              <a:endParaRPr sz="2400" b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Competenze finanziarie e imprenditoriali • Attestato di partecipazione • 60 ore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6459"/>
            <a:ext cx="5238750" cy="177537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3929955"/>
            <a:ext cx="5500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2979390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Cisco Networking Academy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214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04875" y="4434780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Installazione e manutenzione di personal computer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04875" y="4851945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Procedure di laboratorio sicure e troubleshooting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04875" y="5269110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Installazione e gestione di sistemi operativi Windows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5686276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Configurazione di dispositivi di rete locale (LAN)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23479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581150" y="2211734"/>
            <a:ext cx="198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 Essentials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581150" y="2545100"/>
            <a:ext cx="29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Conseguito: Maggio 2024 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70 ore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Certificato Cisco </a:t>
            </a: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NetAcad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13335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6" title="cisco_it_essentials.jpg"/>
          <p:cNvPicPr preferRelativeResize="0"/>
          <p:nvPr/>
        </p:nvPicPr>
        <p:blipFill rotWithShape="1">
          <a:blip r:embed="rId8">
            <a:alphaModFix/>
          </a:blip>
          <a:srcRect l="2144" r="2135"/>
          <a:stretch/>
        </p:blipFill>
        <p:spPr>
          <a:xfrm>
            <a:off x="5935928" y="1916450"/>
            <a:ext cx="5892516" cy="41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94617" y="76198"/>
            <a:ext cx="3978331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Gestione delle finanze personali e investimenti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Strumenti bancari e gestione del debito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working, comunicazione e time 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Pensiero critico, creatività e problem solving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17"/>
          <p:cNvGrpSpPr/>
          <p:nvPr/>
        </p:nvGrpSpPr>
        <p:grpSpPr>
          <a:xfrm>
            <a:off x="571500" y="1916459"/>
            <a:ext cx="5238750" cy="1775370"/>
            <a:chOff x="571500" y="1916459"/>
            <a:chExt cx="5238750" cy="1775370"/>
          </a:xfrm>
        </p:grpSpPr>
        <p:pic>
          <p:nvPicPr>
            <p:cNvPr id="153" name="Google Shape;153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916459"/>
              <a:ext cx="5238750" cy="1775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7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Startup Your Life – UniCredit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5" name="Google Shape;155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00125" y="2347912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7"/>
            <p:cNvSpPr txBox="1"/>
            <p:nvPr/>
          </p:nvSpPr>
          <p:spPr>
            <a:xfrm>
              <a:off x="1581150" y="2211734"/>
              <a:ext cx="2830353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Educazione Finanziaria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1581150" y="2545109"/>
              <a:ext cx="2695575" cy="2437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A.S. 2023–2024 • 60 ore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9" name="Google Shape;15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Attestato di Partecipazione </a:t>
            </a:r>
            <a:r>
              <a:rPr lang="en-US" sz="3300" b="0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FSL</a:t>
            </a:r>
            <a:endParaRPr sz="1400" b="0" i="0" u="none" strike="noStrike" cap="none">
              <a:solidFill>
                <a:srgbClr val="EF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7" title="document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72178" y="1719275"/>
            <a:ext cx="5923258" cy="41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1714500"/>
            <a:ext cx="4381500" cy="371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Fase del Progetto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6400" b="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4° Anno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A.S. 2024–2025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4D – Sicurezza, reti e sostenibilità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2" name="Google Shape;172;p18"/>
          <p:cNvGrpSpPr/>
          <p:nvPr/>
        </p:nvGrpSpPr>
        <p:grpSpPr>
          <a:xfrm>
            <a:off x="5524500" y="1428750"/>
            <a:ext cx="5905500" cy="4667400"/>
            <a:chOff x="5524500" y="1428750"/>
            <a:chExt cx="5905500" cy="4667400"/>
          </a:xfrm>
        </p:grpSpPr>
        <p:sp>
          <p:nvSpPr>
            <p:cNvPr id="173" name="Google Shape;173;p18"/>
            <p:cNvSpPr/>
            <p:nvPr/>
          </p:nvSpPr>
          <p:spPr>
            <a:xfrm>
              <a:off x="5524500" y="1428750"/>
              <a:ext cx="5905500" cy="1428900"/>
            </a:xfrm>
            <a:prstGeom prst="roundRect">
              <a:avLst>
                <a:gd name="adj" fmla="val 10666"/>
              </a:avLst>
            </a:prstGeom>
            <a:solidFill>
              <a:srgbClr val="13223F"/>
            </a:solidFill>
            <a:ln w="1430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5524500" y="1714500"/>
              <a:ext cx="57300" cy="8574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5810250" y="142875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Cisco Networking Academy</a:t>
              </a:r>
              <a:endParaRPr sz="105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CCNA: Introduction to Networks</a:t>
              </a:r>
              <a:endParaRPr sz="105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Introduzione alle reti, architetture, protocolli e configurazione • 70 ore</a:t>
              </a:r>
              <a:endParaRPr sz="105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5524500" y="3048000"/>
              <a:ext cx="5905500" cy="1428900"/>
            </a:xfrm>
            <a:prstGeom prst="roundRect">
              <a:avLst>
                <a:gd name="adj" fmla="val 10666"/>
              </a:avLst>
            </a:prstGeom>
            <a:solidFill>
              <a:srgbClr val="13223F"/>
            </a:solidFill>
            <a:ln w="1430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5524500" y="3333750"/>
              <a:ext cx="57300" cy="8574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5810250" y="304800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EF4444"/>
                  </a:solidFill>
                  <a:latin typeface="Poppins"/>
                  <a:ea typeface="Poppins"/>
                  <a:cs typeface="Poppins"/>
                  <a:sym typeface="Poppins"/>
                </a:rPr>
                <a:t>Cultura Ecologica e PCTO</a:t>
              </a:r>
              <a:endParaRPr sz="1050" b="1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Educazione alla Sostenibilità</a:t>
              </a:r>
              <a:endParaRPr sz="1050" b="1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Competenze di sostenibilità ecologica, transizione energetica e ambiente</a:t>
              </a:r>
              <a:endParaRPr sz="1050" b="1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524500" y="4667250"/>
              <a:ext cx="5905500" cy="1428900"/>
            </a:xfrm>
            <a:prstGeom prst="roundRect">
              <a:avLst>
                <a:gd name="adj" fmla="val 10666"/>
              </a:avLst>
            </a:prstGeom>
            <a:solidFill>
              <a:srgbClr val="13223F"/>
            </a:solidFill>
            <a:ln w="1430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5524500" y="4953000"/>
              <a:ext cx="57300" cy="8574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5810250" y="466725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rPr>
                <a:t>Formazione Generale (D.Lgs. 81/2008)</a:t>
              </a:r>
              <a:endParaRPr sz="1050" b="1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Sicurezza sul Lavoro</a:t>
              </a:r>
              <a:endParaRPr sz="1050" b="1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Prevenzione dei rischi nei luoghi di lavoro e normative di sicurezza • 4 ore</a:t>
              </a:r>
              <a:endParaRPr sz="1050" b="1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Normativa sicurezza D.Lgs. 81/2008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Prevenzione rischi in ambienti lavorativi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Procedure di emergenza e primo soccorso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corretto dei dispositivi di protezione individuale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571500" y="1916459"/>
            <a:ext cx="5238750" cy="1775370"/>
            <a:chOff x="571500" y="1916459"/>
            <a:chExt cx="5238750" cy="1775370"/>
          </a:xfrm>
        </p:grpSpPr>
        <p:pic>
          <p:nvPicPr>
            <p:cNvPr id="201" name="Google Shape;201;p20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916459"/>
              <a:ext cx="5238750" cy="1775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0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Formazione Sicurezza Generale (D.Lgs. 81/2008)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3" name="Google Shape;203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1075" y="2347912"/>
              <a:ext cx="3429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0"/>
            <p:cNvSpPr txBox="1"/>
            <p:nvPr/>
          </p:nvSpPr>
          <p:spPr>
            <a:xfrm>
              <a:off x="1581150" y="2211734"/>
              <a:ext cx="2470308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Sicurezza sul Lavoro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1581150" y="2545100"/>
              <a:ext cx="2991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Conseguito: Dicembre 2024 • 4 ore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7" name="Google Shape;20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Attestato </a:t>
            </a:r>
            <a:r>
              <a:rPr lang="en-US" sz="330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Sicurezza sul Lavoro</a:t>
            </a:r>
            <a:endParaRPr sz="1400" b="0" i="0" u="none" strike="noStrike" cap="none">
              <a:solidFill>
                <a:srgbClr val="FBBF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71500" y="1333500"/>
            <a:ext cx="6666900" cy="18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0" title="Attestato_di_Sicurezza_generale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30400" y="276375"/>
            <a:ext cx="4461125" cy="630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Fondamenti di networking e modello OSI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Configurazione di router e switch Cisco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Protocolli TCP/IP, IPv4 e IPv6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Sicurezza di base delle reti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21"/>
          <p:cNvGrpSpPr/>
          <p:nvPr/>
        </p:nvGrpSpPr>
        <p:grpSpPr>
          <a:xfrm>
            <a:off x="571500" y="1916450"/>
            <a:ext cx="4943475" cy="1775375"/>
            <a:chOff x="571500" y="1916450"/>
            <a:chExt cx="4943475" cy="1775375"/>
          </a:xfrm>
        </p:grpSpPr>
        <p:pic>
          <p:nvPicPr>
            <p:cNvPr id="225" name="Google Shape;225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916450"/>
              <a:ext cx="4905374" cy="1775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1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Cisco Networking Academy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7" name="Google Shape;227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62025" y="2347912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1"/>
            <p:cNvSpPr txBox="1"/>
            <p:nvPr/>
          </p:nvSpPr>
          <p:spPr>
            <a:xfrm>
              <a:off x="1581150" y="2211734"/>
              <a:ext cx="3890486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CCNA: Introduction to Networks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1581150" y="2545109"/>
              <a:ext cx="3705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Conseguito: 15 Maggio 2025 • 70 ore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1" name="Google Shape;23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Certificato Cisco </a:t>
            </a: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NetAcad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1" title="_certificate_lucaaiello446-gmail-com_cf57948f-7566-4f5f-a422-7d62d541a435 (1)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9749" y="1932713"/>
            <a:ext cx="6449853" cy="4429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4617" y="76198"/>
            <a:ext cx="3978331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sostenibilità in azienda e bilancio ESG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Impatto ambientale e sociale delle imprese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Analisi di casi studio su responsabilità d'impresa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Orientamento al futuro sostenibile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22"/>
          <p:cNvGrpSpPr/>
          <p:nvPr/>
        </p:nvGrpSpPr>
        <p:grpSpPr>
          <a:xfrm>
            <a:off x="571500" y="1916459"/>
            <a:ext cx="5238750" cy="1775370"/>
            <a:chOff x="571500" y="1916459"/>
            <a:chExt cx="5238750" cy="1775370"/>
          </a:xfrm>
        </p:grpSpPr>
        <p:pic>
          <p:nvPicPr>
            <p:cNvPr id="250" name="Google Shape;250;p22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916459"/>
              <a:ext cx="5238750" cy="1775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22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Startup Your Life – UniCredit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2" name="Google Shape;252;p22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00125" y="2347912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2"/>
            <p:cNvSpPr txBox="1"/>
            <p:nvPr/>
          </p:nvSpPr>
          <p:spPr>
            <a:xfrm>
              <a:off x="1581150" y="2211734"/>
              <a:ext cx="352044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Educazione alla Sostenibilità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1581150" y="2545109"/>
              <a:ext cx="3352800" cy="2437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A.S. 2024–2025 • 14 ore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6" name="Google Shape;25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Attestato di Partecipazione </a:t>
            </a:r>
            <a:r>
              <a:rPr lang="en-US" sz="3300" b="0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FSL</a:t>
            </a:r>
            <a:endParaRPr sz="1400" b="0" i="0" u="none" strike="noStrike" cap="none">
              <a:solidFill>
                <a:srgbClr val="EF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2" title="document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9253" y="1948488"/>
            <a:ext cx="6045371" cy="427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762000" y="1714500"/>
            <a:ext cx="4381500" cy="371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Fase del Progetto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6400" b="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5° Anno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A.S. 2025–2026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5D – Specializzazione avanzata in networking</a:t>
            </a:r>
            <a:endParaRPr sz="1300" b="1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7" name="Google Shape;277;p24"/>
          <p:cNvGrpSpPr/>
          <p:nvPr/>
        </p:nvGrpSpPr>
        <p:grpSpPr>
          <a:xfrm>
            <a:off x="5524500" y="2000250"/>
            <a:ext cx="5905500" cy="2857500"/>
            <a:chOff x="5524500" y="2000250"/>
            <a:chExt cx="5905500" cy="2857500"/>
          </a:xfrm>
        </p:grpSpPr>
        <p:sp>
          <p:nvSpPr>
            <p:cNvPr id="278" name="Google Shape;278;p24"/>
            <p:cNvSpPr/>
            <p:nvPr/>
          </p:nvSpPr>
          <p:spPr>
            <a:xfrm>
              <a:off x="5524500" y="2000250"/>
              <a:ext cx="5905500" cy="2857500"/>
            </a:xfrm>
            <a:prstGeom prst="roundRect">
              <a:avLst>
                <a:gd name="adj" fmla="val 5333"/>
              </a:avLst>
            </a:prstGeom>
            <a:solidFill>
              <a:srgbClr val="13223F"/>
            </a:solidFill>
            <a:ln w="14300" cap="flat" cmpd="sng">
              <a:solidFill>
                <a:srgbClr val="2238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5524500" y="2286000"/>
              <a:ext cx="57300" cy="22860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5810250" y="2000250"/>
              <a:ext cx="5334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Cisco Networking Academy</a:t>
              </a:r>
              <a:endParaRPr sz="11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CCNA: Switching, Routing &amp; Wireless</a:t>
              </a:r>
              <a:endParaRPr sz="11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Configurazione avanzata di switch (VLANs, STP), routing statico e dinamico (OSPF, EIGRP), reti wireless standard IEEE 802.11, sicurezza e troubleshooting di rete • 70 ore</a:t>
              </a:r>
              <a:endParaRPr sz="11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9275"/>
            <a:ext cx="4905374" cy="17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571500" y="3927127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866775" y="2976562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Cisco Networking Academy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214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904875" y="4431952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Configurazione avanzata di switch (VLANs, STP)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904875" y="4849117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Routing statico e dinamico (OSPF, EIGRP)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904875" y="5266283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Reti wireless standard IEEE 802.11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904875" y="568344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Sicurezza e troubleshooting avanzato di rete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3479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581150" y="2235547"/>
            <a:ext cx="371046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CCNA: Switching, Routing &amp; Wireless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1581150" y="2521297"/>
            <a:ext cx="353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Conseguito: 3 Giugno 2026 • 70 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748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9198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0914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72631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Certificato Cisco </a:t>
            </a: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NetAcad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5" title="CCNA-_Switching-_Routing-_and_Wireless_Essentials_certificate_lucaaiello446-gmail-com_056c01e0-0f17-4297-b17c-f5f6293d6111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25196" y="1895038"/>
            <a:ext cx="6462702" cy="437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4617" y="76198"/>
            <a:ext cx="3978331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26"/>
          <p:cNvGrpSpPr/>
          <p:nvPr/>
        </p:nvGrpSpPr>
        <p:grpSpPr>
          <a:xfrm>
            <a:off x="571500" y="1151355"/>
            <a:ext cx="5238750" cy="4152900"/>
            <a:chOff x="571500" y="1052512"/>
            <a:chExt cx="5238750" cy="4152900"/>
          </a:xfrm>
        </p:grpSpPr>
        <p:pic>
          <p:nvPicPr>
            <p:cNvPr id="311" name="Google Shape;311;p2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052512"/>
              <a:ext cx="5238750" cy="12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500312"/>
              <a:ext cx="5238750" cy="12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2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1500" y="3948112"/>
              <a:ext cx="5238750" cy="12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6"/>
            <p:cNvSpPr txBox="1"/>
            <p:nvPr/>
          </p:nvSpPr>
          <p:spPr>
            <a:xfrm>
              <a:off x="866775" y="1347787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50"/>
                <a:buFont typeface="Arial"/>
                <a:buNone/>
              </a:pPr>
              <a:r>
                <a:rPr lang="en-US" sz="5250" b="1" i="0" u="none" strike="noStrike" cap="none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 txBox="1"/>
            <p:nvPr/>
          </p:nvSpPr>
          <p:spPr>
            <a:xfrm>
              <a:off x="2162625" y="1454163"/>
              <a:ext cx="2958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lang="en-US" sz="1650" b="0" i="0" u="none" strike="noStrike" cap="non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Certificati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0" u="none" strike="noStrike" cap="non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conseguiti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660825" y="2724850"/>
              <a:ext cx="15018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50"/>
                <a:buFont typeface="Arial"/>
                <a:buNone/>
              </a:pPr>
              <a:r>
                <a:rPr lang="en-US" sz="5250" b="1" i="0" u="none" strike="noStrike" cap="none">
                  <a:solidFill>
                    <a:srgbClr val="34D399"/>
                  </a:solidFill>
                  <a:latin typeface="Poppins"/>
                  <a:ea typeface="Poppins"/>
                  <a:cs typeface="Poppins"/>
                  <a:sym typeface="Poppins"/>
                </a:rPr>
                <a:t>288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 txBox="1"/>
            <p:nvPr/>
          </p:nvSpPr>
          <p:spPr>
            <a:xfrm>
              <a:off x="2162625" y="2875000"/>
              <a:ext cx="18087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lang="en-US" sz="1650" b="0" i="0" u="none" strike="noStrike" cap="non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Ore di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0" u="none" strike="noStrike" cap="non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formazione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6"/>
            <p:cNvSpPr txBox="1"/>
            <p:nvPr/>
          </p:nvSpPr>
          <p:spPr>
            <a:xfrm>
              <a:off x="866775" y="4243375"/>
              <a:ext cx="9525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50"/>
                <a:buFont typeface="Arial"/>
                <a:buNone/>
              </a:pPr>
              <a:r>
                <a:rPr lang="en-US" sz="5250" b="1" i="0" u="none" strike="noStrike" cap="none">
                  <a:solidFill>
                    <a:srgbClr val="F472B6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6"/>
            <p:cNvSpPr txBox="1"/>
            <p:nvPr/>
          </p:nvSpPr>
          <p:spPr>
            <a:xfrm>
              <a:off x="2162625" y="4295825"/>
              <a:ext cx="1737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lang="en-US" sz="1650" b="0" i="0" u="none" strike="noStrike" cap="non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Anni di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lang="en-US" sz="1650" b="0" i="0" u="none" strike="noStrike" cap="non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percorso FSL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26"/>
          <p:cNvGrpSpPr/>
          <p:nvPr/>
        </p:nvGrpSpPr>
        <p:grpSpPr>
          <a:xfrm>
            <a:off x="6381750" y="1151355"/>
            <a:ext cx="5238750" cy="5515000"/>
            <a:chOff x="6381750" y="1052499"/>
            <a:chExt cx="5238750" cy="5515000"/>
          </a:xfrm>
        </p:grpSpPr>
        <p:pic>
          <p:nvPicPr>
            <p:cNvPr id="321" name="Google Shape;321;p2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81750" y="1052499"/>
              <a:ext cx="5238750" cy="551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6"/>
            <p:cNvSpPr txBox="1"/>
            <p:nvPr/>
          </p:nvSpPr>
          <p:spPr>
            <a:xfrm>
              <a:off x="6772275" y="1443037"/>
              <a:ext cx="468058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Cosa mi ha offerto la scuola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6"/>
            <p:cNvSpPr txBox="1"/>
            <p:nvPr/>
          </p:nvSpPr>
          <p:spPr>
            <a:xfrm>
              <a:off x="7105650" y="20812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Certificazioni Cisco riconosciute a livello internazionale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6"/>
            <p:cNvSpPr txBox="1"/>
            <p:nvPr/>
          </p:nvSpPr>
          <p:spPr>
            <a:xfrm>
              <a:off x="7105650" y="28813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Formazione sulla sicurezza sul lavoro obbligatoria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6"/>
            <p:cNvSpPr txBox="1"/>
            <p:nvPr/>
          </p:nvSpPr>
          <p:spPr>
            <a:xfrm>
              <a:off x="7105650" y="3681412"/>
              <a:ext cx="4124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Percorsi UniCredit su finanza e sostenibilità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6"/>
            <p:cNvSpPr txBox="1"/>
            <p:nvPr/>
          </p:nvSpPr>
          <p:spPr>
            <a:xfrm>
              <a:off x="7105650" y="41767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Accesso al mercato del lavoro nel settore networking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6"/>
            <p:cNvSpPr txBox="1"/>
            <p:nvPr/>
          </p:nvSpPr>
          <p:spPr>
            <a:xfrm>
              <a:off x="7105650" y="49768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Soft skills: team working, problem solving, creatività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6"/>
            <p:cNvSpPr txBox="1"/>
            <p:nvPr/>
          </p:nvSpPr>
          <p:spPr>
            <a:xfrm>
              <a:off x="7105650" y="5776912"/>
              <a:ext cx="4124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Orientamento al mondo professionale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9" name="Google Shape;329;p2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72275" y="21240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72275" y="29241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72275" y="37242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2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72275" y="42195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72275" y="50196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72275" y="58197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5" name="Google Shape;335;p26"/>
          <p:cNvSpPr txBox="1"/>
          <p:nvPr/>
        </p:nvSpPr>
        <p:spPr>
          <a:xfrm>
            <a:off x="571500" y="272538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Riepilogo del </a:t>
            </a: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Percorso FSL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571500" y="910793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Widescreen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2" baseType="lpstr">
      <vt:lpstr>Poppins SemiBold</vt:lpstr>
      <vt:lpstr>Poppins ExtraBold</vt:lpstr>
      <vt:lpstr>Inter Medium</vt:lpstr>
      <vt:lpstr>Poppins Medium</vt:lpstr>
      <vt:lpstr>Arial</vt:lpstr>
      <vt:lpstr>Poppins</vt:lpstr>
      <vt:lpstr>Inter</vt:lpstr>
      <vt:lpstr>Calibri</vt:lpstr>
      <vt:lpstr>Inter SemiBold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 Aiello</cp:lastModifiedBy>
  <cp:revision>1</cp:revision>
  <dcterms:modified xsi:type="dcterms:W3CDTF">2026-06-26T22:31:49Z</dcterms:modified>
</cp:coreProperties>
</file>